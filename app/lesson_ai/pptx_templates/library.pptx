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wave_back"/>
          <p:cNvSpPr/>
          <p:nvPr/>
        </p:nvSpPr>
        <p:spPr>
          <a:xfrm>
            <a:off x="0" y="5486400"/>
            <a:ext cx="11887200" cy="5078817172800"/>
          </a:xfrm>
          <a:custGeom>
            <a:avLst/>
            <a:gdLst/>
            <a:ahLst/>
            <a:cxnLst/>
            <a:rect l="l" t="t" r="r" b="b"/>
            <a:pathLst>
              <a:path w="13" h="5554262">
                <a:moveTo>
                  <a:pt x="0" y="5554262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9" y="0"/>
                </a:lnTo>
                <a:lnTo>
                  <a:pt x="9" y="0"/>
                </a:lnTo>
                <a:lnTo>
                  <a:pt x="9" y="0"/>
                </a:lnTo>
                <a:lnTo>
                  <a:pt x="9" y="0"/>
                </a:lnTo>
                <a:lnTo>
                  <a:pt x="9" y="0"/>
                </a:lnTo>
                <a:lnTo>
                  <a:pt x="9" y="0"/>
                </a:lnTo>
                <a:lnTo>
                  <a:pt x="9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2"/>
                </a:lnTo>
                <a:lnTo>
                  <a:pt x="0" y="2"/>
                </a:lnTo>
                <a:close/>
              </a:path>
            </a:pathLst>
          </a:custGeom>
          <a:solidFill>
            <a:srgbClr val="2A8C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eco:wave_front"/>
          <p:cNvSpPr/>
          <p:nvPr/>
        </p:nvSpPr>
        <p:spPr>
          <a:xfrm>
            <a:off x="0" y="5486400"/>
            <a:ext cx="11887200" cy="5514697022400"/>
          </a:xfrm>
          <a:custGeom>
            <a:avLst/>
            <a:gdLst/>
            <a:ahLst/>
            <a:cxnLst/>
            <a:rect l="l" t="t" r="r" b="b"/>
            <a:pathLst>
              <a:path w="13" h="6030946">
                <a:moveTo>
                  <a:pt x="0" y="6030946"/>
                </a:move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6" y="1"/>
                </a:lnTo>
                <a:lnTo>
                  <a:pt x="6" y="1"/>
                </a:lnTo>
                <a:lnTo>
                  <a:pt x="6" y="1"/>
                </a:lnTo>
                <a:lnTo>
                  <a:pt x="6" y="1"/>
                </a:lnTo>
                <a:lnTo>
                  <a:pt x="6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7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0"/>
                </a:lnTo>
                <a:lnTo>
                  <a:pt x="9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0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13" y="2"/>
                </a:lnTo>
                <a:lnTo>
                  <a:pt x="0" y="2"/>
                </a:lnTo>
                <a:close/>
              </a:path>
            </a:pathLst>
          </a:cu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eco:sun"/>
          <p:cNvSpPr/>
          <p:nvPr/>
        </p:nvSpPr>
        <p:spPr>
          <a:xfrm>
            <a:off x="10561320" y="457200"/>
            <a:ext cx="1143000" cy="1143000"/>
          </a:xfrm>
          <a:prstGeom prst="ellipse">
            <a:avLst/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deco:picture_bg"/>
          <p:cNvSpPr/>
          <p:nvPr/>
        </p:nvSpPr>
        <p:spPr>
          <a:xfrm>
            <a:off x="7818120" y="1005840"/>
            <a:ext cx="3749040" cy="3749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lot:picture"/>
          <p:cNvSpPr/>
          <p:nvPr/>
        </p:nvSpPr>
        <p:spPr>
          <a:xfrm>
            <a:off x="8549640" y="1737360"/>
            <a:ext cx="2286000" cy="228600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slot:title"/>
          <p:cNvSpPr/>
          <p:nvPr/>
        </p:nvSpPr>
        <p:spPr>
          <a:xfrm>
            <a:off x="731520" y="914400"/>
            <a:ext cx="6766560" cy="29260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4800" b="1">
                <a:solidFill>
                  <a:srgbClr val="FFFFFF"/>
                </a:solidFill>
                <a:latin typeface="Verdana" panose="020B0604030504040204"/>
                <a:cs typeface="Verdana"/>
              </a:rPr>
              <a:t>Тема урока</a:t>
            </a:r>
            <a:endParaRPr lang="ru-RU" sz="4800" b="1">
              <a:solidFill>
                <a:srgbClr val="FFFFFF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8" name="slot:subtitle"/>
          <p:cNvSpPr/>
          <p:nvPr/>
        </p:nvSpPr>
        <p:spPr>
          <a:xfrm>
            <a:off x="731520" y="3977640"/>
            <a:ext cx="6766560" cy="1143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2800" b="0">
                <a:solidFill>
                  <a:srgbClr val="E6F3EC"/>
                </a:solidFill>
                <a:latin typeface="Arial" panose="020B0604020202020204"/>
                <a:cs typeface="Arial"/>
              </a:rPr>
              <a:t>Предмет · 3 класс</a:t>
            </a:r>
            <a:endParaRPr lang="ru-RU" sz="2800" b="0">
              <a:solidFill>
                <a:srgbClr val="E6F3EC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panel"/>
          <p:cNvSpPr/>
          <p:nvPr/>
        </p:nvSpPr>
        <p:spPr>
          <a:xfrm>
            <a:off x="8001000" y="411480"/>
            <a:ext cx="3639312" cy="6035040"/>
          </a:xfrm>
          <a:prstGeom prst="roundRect">
            <a:avLst>
              <a:gd name="adj" fmla="val 11306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eco:sun"/>
          <p:cNvSpPr/>
          <p:nvPr/>
        </p:nvSpPr>
        <p:spPr>
          <a:xfrm>
            <a:off x="10744200" y="182880"/>
            <a:ext cx="1097280" cy="1097280"/>
          </a:xfrm>
          <a:prstGeom prst="ellipse">
            <a:avLst/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ot:picture"/>
          <p:cNvSpPr/>
          <p:nvPr/>
        </p:nvSpPr>
        <p:spPr>
          <a:xfrm>
            <a:off x="8540496" y="2148840"/>
            <a:ext cx="2560320" cy="256032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5" name="slot:title"/>
          <p:cNvSpPr/>
          <p:nvPr/>
        </p:nvSpPr>
        <p:spPr>
          <a:xfrm>
            <a:off x="548640" y="384048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Сегодня на уроке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6" name="slot:items"/>
          <p:cNvSpPr/>
          <p:nvPr/>
        </p:nvSpPr>
        <p:spPr>
          <a:xfrm>
            <a:off x="548640" y="1600200"/>
            <a:ext cx="7132320" cy="47548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 marL="568960" indent="-568960">
              <a:spc_bef>
                <a:spcPts val="18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Вспомним слова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18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Узнаем новое правило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18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Поиграем в паре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18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Подведём итог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Новое правило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slot:body"/>
          <p:cNvSpPr/>
          <p:nvPr/>
        </p:nvSpPr>
        <p:spPr>
          <a:xfrm>
            <a:off x="548640" y="1554480"/>
            <a:ext cx="6766560" cy="33832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Короткое объяснение правила простыми словами: два-три предложения, которые учитель прочитает вслух.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4" name="slot:highlight"/>
          <p:cNvSpPr/>
          <p:nvPr/>
        </p:nvSpPr>
        <p:spPr>
          <a:xfrm>
            <a:off x="548640" y="5212080"/>
            <a:ext cx="6766560" cy="1097280"/>
          </a:xfrm>
          <a:prstGeom prst="roundRect">
            <a:avLst>
              <a:gd name="adj" fmla="val 25000"/>
            </a:avLst>
          </a:prstGeom>
          <a:solidFill>
            <a:srgbClr val="FFC233"/>
          </a:solidFill>
          <a:ln>
            <a:noFill/>
          </a:ln>
        </p:spPr>
        <p:txBody>
          <a:bodyPr rtlCol="0" anchor="ctr" wrap="square" lIns="228600" tIns="76200" rIns="228600" bIns="76200">
            <a:normAutofit/>
          </a:bodyPr>
          <a:lstStyle/>
          <a:p>
            <a:pPr algn="l">
              <a:buNone/>
            </a:pPr>
            <a:r>
              <a:rPr lang="ru-RU" sz="2800" b="1">
                <a:solidFill>
                  <a:srgbClr val="1C2B33"/>
                </a:solidFill>
                <a:latin typeface="Arial" panose="020B0604020202020204"/>
                <a:cs typeface="Arial"/>
              </a:rPr>
              <a:t>Главное правило</a:t>
            </a:r>
            <a:endParaRPr lang="ru-RU" sz="2800" b="1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5" name="deco:picture_bg"/>
          <p:cNvSpPr/>
          <p:nvPr/>
        </p:nvSpPr>
        <p:spPr>
          <a:xfrm>
            <a:off x="7726680" y="1554480"/>
            <a:ext cx="3913632" cy="4754880"/>
          </a:xfrm>
          <a:prstGeom prst="roundRect">
            <a:avLst>
              <a:gd name="adj" fmla="val 9345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lot:picture"/>
          <p:cNvSpPr/>
          <p:nvPr/>
        </p:nvSpPr>
        <p:spPr>
          <a:xfrm>
            <a:off x="8220456" y="1920240"/>
            <a:ext cx="2926080" cy="292608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slot:caption"/>
          <p:cNvSpPr/>
          <p:nvPr/>
        </p:nvSpPr>
        <p:spPr>
          <a:xfrm>
            <a:off x="7863840" y="5074920"/>
            <a:ext cx="3639312" cy="10972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400" b="0">
                <a:solidFill>
                  <a:srgbClr val="1C2B33"/>
                </a:solidFill>
                <a:latin typeface="Arial" panose="020B0604020202020204"/>
                <a:cs typeface="Arial"/>
              </a:rPr>
              <a:t>Подпись к картинке</a:t>
            </a:r>
            <a:endParaRPr lang="ru-RU" sz="24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Сравним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panel_round"/>
          <p:cNvSpPr/>
          <p:nvPr/>
        </p:nvSpPr>
        <p:spPr>
          <a:xfrm>
            <a:off x="548640" y="1554480"/>
            <a:ext cx="5394960" cy="4754880"/>
          </a:xfrm>
          <a:prstGeom prst="roundRect">
            <a:avLst>
              <a:gd name="adj" fmla="val 6730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anel_round"/>
          <p:cNvSpPr/>
          <p:nvPr/>
        </p:nvSpPr>
        <p:spPr>
          <a:xfrm>
            <a:off x="6245352" y="1554480"/>
            <a:ext cx="5394960" cy="4754880"/>
          </a:xfrm>
          <a:prstGeom prst="roundRect">
            <a:avLst>
              <a:gd name="adj" fmla="val 6730"/>
            </a:avLst>
          </a:prstGeom>
          <a:solidFill>
            <a:srgbClr val="FFF0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lot:left_picture"/>
          <p:cNvSpPr/>
          <p:nvPr/>
        </p:nvSpPr>
        <p:spPr>
          <a:xfrm>
            <a:off x="868680" y="1828800"/>
            <a:ext cx="1005840" cy="10058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slot:left_title"/>
          <p:cNvSpPr/>
          <p:nvPr/>
        </p:nvSpPr>
        <p:spPr>
          <a:xfrm>
            <a:off x="2011680" y="182880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2800" b="1">
                <a:solidFill>
                  <a:srgbClr val="1F7A5C"/>
                </a:solidFill>
                <a:latin typeface="Verdana" panose="020B0604030504040204"/>
                <a:cs typeface="Verdana"/>
              </a:rPr>
              <a:t>Первое</a:t>
            </a:r>
            <a:endParaRPr lang="ru-RU" sz="2800" b="1">
              <a:solidFill>
                <a:srgbClr val="1F7A5C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7" name="slot:left_items"/>
          <p:cNvSpPr/>
          <p:nvPr/>
        </p:nvSpPr>
        <p:spPr>
          <a:xfrm>
            <a:off x="868680" y="301752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 marL="412750" indent="-4127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Первый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12750" indent="-4127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12750" indent="-4127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Третий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8" name="slot:right_picture"/>
          <p:cNvSpPr/>
          <p:nvPr/>
        </p:nvSpPr>
        <p:spPr>
          <a:xfrm>
            <a:off x="6565392" y="1828800"/>
            <a:ext cx="1005840" cy="10058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9" name="slot:right_title"/>
          <p:cNvSpPr/>
          <p:nvPr/>
        </p:nvSpPr>
        <p:spPr>
          <a:xfrm>
            <a:off x="7708392" y="182880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2800" b="1">
                <a:solidFill>
                  <a:srgbClr val="8A5A00"/>
                </a:solidFill>
                <a:latin typeface="Verdana" panose="020B0604030504040204"/>
                <a:cs typeface="Verdana"/>
              </a:rPr>
              <a:t>Второе</a:t>
            </a:r>
            <a:endParaRPr lang="ru-RU" sz="2800" b="1">
              <a:solidFill>
                <a:srgbClr val="8A5A00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10" name="slot:right_items"/>
          <p:cNvSpPr/>
          <p:nvPr/>
        </p:nvSpPr>
        <p:spPr>
          <a:xfrm>
            <a:off x="6565392" y="301752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 marL="412750" indent="-412750">
              <a:spc_bef>
                <a:spcPts val="1400"/>
              </a:spc_bef>
              <a:buClr>
                <a:srgbClr val="C98A00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Первый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12750" indent="-412750">
              <a:spc_bef>
                <a:spcPts val="1400"/>
              </a:spc_bef>
              <a:buClr>
                <a:srgbClr val="C98A00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12750" indent="-412750">
              <a:spc_bef>
                <a:spcPts val="1400"/>
              </a:spc_bef>
              <a:buClr>
                <a:srgbClr val="C98A00"/>
              </a:buClr>
              <a:buSzPct val="80000"/>
              <a:buFont typeface="Arial"/>
              <a:buChar char="●"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Третий пункт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sun"/>
          <p:cNvSpPr/>
          <p:nvPr/>
        </p:nvSpPr>
        <p:spPr>
          <a:xfrm>
            <a:off x="10835640" y="274320"/>
            <a:ext cx="914400" cy="914400"/>
          </a:xfrm>
          <a:prstGeom prst="ellipse">
            <a:avLst/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lot:title"/>
          <p:cNvSpPr/>
          <p:nvPr/>
        </p:nvSpPr>
        <p:spPr>
          <a:xfrm>
            <a:off x="548640" y="384048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FFFFFF"/>
                </a:solidFill>
                <a:latin typeface="Verdana" panose="020B0604030504040204"/>
                <a:cs typeface="Verdana"/>
              </a:rPr>
              <a:t>Запомни!</a:t>
            </a:r>
            <a:endParaRPr lang="ru-RU" sz="3600" b="1">
              <a:solidFill>
                <a:srgbClr val="FFFFFF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4" name="panel_round"/>
          <p:cNvSpPr/>
          <p:nvPr/>
        </p:nvSpPr>
        <p:spPr>
          <a:xfrm>
            <a:off x="548640" y="1554480"/>
            <a:ext cx="11091672" cy="265176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lot:number"/>
          <p:cNvSpPr/>
          <p:nvPr/>
        </p:nvSpPr>
        <p:spPr>
          <a:xfrm>
            <a:off x="822960" y="1691640"/>
            <a:ext cx="10543032" cy="23774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8800" b="1">
                <a:solidFill>
                  <a:srgbClr val="1F7A5C"/>
                </a:solidFill>
                <a:latin typeface="Verdana" panose="020B0604030504040204"/>
                <a:cs typeface="Verdana"/>
              </a:rPr>
              <a:t>100</a:t>
            </a:r>
            <a:endParaRPr lang="ru-RU" sz="8800" b="1">
              <a:solidFill>
                <a:srgbClr val="1F7A5C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6" name="slot:caption"/>
          <p:cNvSpPr/>
          <p:nvPr/>
        </p:nvSpPr>
        <p:spPr>
          <a:xfrm>
            <a:off x="548640" y="4526280"/>
            <a:ext cx="8778240" cy="1828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000" b="0">
                <a:solidFill>
                  <a:srgbClr val="FFFFFF"/>
                </a:solidFill>
                <a:latin typeface="Arial" panose="020B0604020202020204"/>
                <a:cs typeface="Arial"/>
              </a:rPr>
              <a:t>Короткое пояснение: что это значит и где встречается.</a:t>
            </a:r>
            <a:endParaRPr lang="ru-RU" sz="3000" b="0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deco:picture_bg"/>
          <p:cNvSpPr/>
          <p:nvPr/>
        </p:nvSpPr>
        <p:spPr>
          <a:xfrm>
            <a:off x="9555480" y="4297680"/>
            <a:ext cx="2084832" cy="20848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lot:picture"/>
          <p:cNvSpPr/>
          <p:nvPr/>
        </p:nvSpPr>
        <p:spPr>
          <a:xfrm>
            <a:off x="9866376" y="4608576"/>
            <a:ext cx="1463040" cy="14630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badge"/>
          <p:cNvSpPr/>
          <p:nvPr/>
        </p:nvSpPr>
        <p:spPr>
          <a:xfrm>
            <a:off x="548640" y="566928"/>
            <a:ext cx="914400" cy="914400"/>
          </a:xfrm>
          <a:prstGeom prst="ellipse">
            <a:avLst/>
          </a:prstGeom>
          <a:solidFill>
            <a:srgbClr val="FFC233"/>
          </a:solidFill>
          <a:ln>
            <a:noFill/>
          </a:ln>
        </p:spPr>
        <p:txBody>
          <a:bodyPr rtlCol="0" anchor="ctr" wrap="square" lIns="0" tIns="0" rIns="0" bIns="0">
            <a:normAutofit/>
          </a:bodyPr>
          <a:lstStyle/>
          <a:p>
            <a:pPr algn="ctr">
              <a:buNone/>
            </a:pPr>
            <a:r>
              <a:rPr lang="ru-RU" sz="4000" b="1">
                <a:solidFill>
                  <a:srgbClr val="1C2B33"/>
                </a:solidFill>
                <a:latin typeface="Verdana" panose="020B0604030504040204"/>
                <a:cs typeface="Verdana"/>
              </a:rPr>
              <a:t>?</a:t>
            </a:r>
            <a:endParaRPr lang="ru-RU" sz="40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slot:question"/>
          <p:cNvSpPr/>
          <p:nvPr/>
        </p:nvSpPr>
        <p:spPr>
          <a:xfrm>
            <a:off x="1691640" y="365760"/>
            <a:ext cx="9948672" cy="13258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200" b="1">
                <a:solidFill>
                  <a:srgbClr val="1C2B33"/>
                </a:solidFill>
                <a:latin typeface="Verdana" panose="020B0604030504040204"/>
                <a:cs typeface="Verdana"/>
              </a:rPr>
              <a:t>Вопрос к классу?</a:t>
            </a:r>
            <a:endParaRPr lang="ru-RU" sz="32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4" name="slot:options"/>
          <p:cNvSpPr/>
          <p:nvPr/>
        </p:nvSpPr>
        <p:spPr>
          <a:xfrm>
            <a:off x="548640" y="2103120"/>
            <a:ext cx="6949440" cy="32918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 marL="609600" indent="-609600">
              <a:spc_bef>
                <a:spcPts val="1600"/>
              </a:spc_bef>
              <a:buClr>
                <a:srgbClr val="1F7A5C"/>
              </a:buClr>
              <a:buSzPct val="100000"/>
              <a:buFont typeface="Arial"/>
              <a:buAutoNum type="alphaUcPeriod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Первый вариант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609600" indent="-609600">
              <a:spc_bef>
                <a:spcPts val="1600"/>
              </a:spc_bef>
              <a:buClr>
                <a:srgbClr val="1F7A5C"/>
              </a:buClr>
              <a:buSzPct val="100000"/>
              <a:buFont typeface="Arial"/>
              <a:buAutoNum type="alphaUcPeriod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Второй вариант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609600" indent="-609600">
              <a:spc_bef>
                <a:spcPts val="1600"/>
              </a:spc_bef>
              <a:buClr>
                <a:srgbClr val="1F7A5C"/>
              </a:buClr>
              <a:buSzPct val="100000"/>
              <a:buFont typeface="Arial"/>
              <a:buAutoNum type="alphaUcPeriod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Третий вариант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5" name="slot:answer"/>
          <p:cNvSpPr/>
          <p:nvPr/>
        </p:nvSpPr>
        <p:spPr>
          <a:xfrm>
            <a:off x="548640" y="5596128"/>
            <a:ext cx="6949440" cy="82296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>
            <a:noFill/>
          </a:ln>
        </p:spPr>
        <p:txBody>
          <a:bodyPr rtlCol="0" anchor="ctr" wrap="square" lIns="279400" tIns="50800" rIns="279400" bIns="50800">
            <a:normAutofit/>
          </a:bodyPr>
          <a:lstStyle/>
          <a:p>
            <a:pPr algn="l">
              <a:buNone/>
            </a:pPr>
            <a:r>
              <a:rPr lang="ru-RU" sz="2600" b="1">
                <a:solidFill>
                  <a:srgbClr val="FFFFFF"/>
                </a:solidFill>
                <a:latin typeface="Arial" panose="020B0604020202020204"/>
                <a:cs typeface="Arial"/>
              </a:rPr>
              <a:t>Ответ</a:t>
            </a:r>
            <a:endParaRPr lang="ru-RU" sz="2600" b="1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deco:picture_bg"/>
          <p:cNvSpPr/>
          <p:nvPr/>
        </p:nvSpPr>
        <p:spPr>
          <a:xfrm>
            <a:off x="7863840" y="2103120"/>
            <a:ext cx="3776472" cy="4315968"/>
          </a:xfrm>
          <a:prstGeom prst="roundRect">
            <a:avLst>
              <a:gd name="adj" fmla="val 9685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lot:picture"/>
          <p:cNvSpPr/>
          <p:nvPr/>
        </p:nvSpPr>
        <p:spPr>
          <a:xfrm>
            <a:off x="8293608" y="2807208"/>
            <a:ext cx="2926080" cy="292608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picture_bg"/>
          <p:cNvSpPr/>
          <p:nvPr/>
        </p:nvSpPr>
        <p:spPr>
          <a:xfrm>
            <a:off x="548640" y="548640"/>
            <a:ext cx="4023360" cy="402336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lot:picture"/>
          <p:cNvSpPr/>
          <p:nvPr/>
        </p:nvSpPr>
        <p:spPr>
          <a:xfrm>
            <a:off x="914400" y="914400"/>
            <a:ext cx="3291840" cy="32918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4" name="slot:statement"/>
          <p:cNvSpPr/>
          <p:nvPr/>
        </p:nvSpPr>
        <p:spPr>
          <a:xfrm>
            <a:off x="4892040" y="548640"/>
            <a:ext cx="6748272" cy="402336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30200" tIns="127000" rIns="330200" bIns="1270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Arial" panose="020B0604020202020204"/>
                <a:cs typeface="Arial"/>
              </a:rPr>
              <a:t>Утверждение, с которым можно согласиться или нет.</a:t>
            </a:r>
            <a:endParaRPr lang="ru-RU" sz="3600" b="1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pic>
        <p:nvPicPr>
          <p:cNvPr id="5" name="deco:true_mark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83480"/>
            <a:ext cx="1325880" cy="1325880"/>
          </a:xfrm>
          <a:prstGeom prst="rect">
            <a:avLst/>
          </a:prstGeom>
        </p:spPr>
      </p:pic>
      <p:pic>
        <p:nvPicPr>
          <p:cNvPr id="6" name="deco:false_mark" descr="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983480"/>
            <a:ext cx="1325880" cy="1325880"/>
          </a:xfrm>
          <a:prstGeom prst="rect">
            <a:avLst/>
          </a:prstGeom>
        </p:spPr>
      </p:pic>
      <p:sp>
        <p:nvSpPr>
          <p:cNvPr id="7" name="slot:answer"/>
          <p:cNvSpPr/>
          <p:nvPr/>
        </p:nvSpPr>
        <p:spPr>
          <a:xfrm>
            <a:off x="4023360" y="5029200"/>
            <a:ext cx="7616952" cy="1234440"/>
          </a:xfrm>
          <a:prstGeom prst="roundRect">
            <a:avLst>
              <a:gd name="adj" fmla="val 29629"/>
            </a:avLst>
          </a:prstGeom>
          <a:solidFill>
            <a:srgbClr val="1F7A5C"/>
          </a:solidFill>
          <a:ln>
            <a:noFill/>
          </a:ln>
        </p:spPr>
        <p:txBody>
          <a:bodyPr rtlCol="0" anchor="ctr" wrap="square" lIns="304800" tIns="76200" rIns="304800" bIns="76200">
            <a:normAutofit/>
          </a:bodyPr>
          <a:lstStyle/>
          <a:p>
            <a:pPr algn="l">
              <a:buNone/>
            </a:pPr>
            <a:r>
              <a:rPr lang="ru-RU" sz="2800" b="1">
                <a:solidFill>
                  <a:srgbClr val="FFFFFF"/>
                </a:solidFill>
                <a:latin typeface="Arial" panose="020B0604020202020204"/>
                <a:cs typeface="Arial"/>
              </a:rPr>
              <a:t>Объяснение ответа</a:t>
            </a:r>
            <a:endParaRPr lang="ru-RU" sz="2800" b="1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_rect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eco:sun"/>
          <p:cNvSpPr/>
          <p:nvPr/>
        </p:nvSpPr>
        <p:spPr>
          <a:xfrm>
            <a:off x="3657600" y="5897880"/>
            <a:ext cx="1097280" cy="1097280"/>
          </a:xfrm>
          <a:prstGeom prst="ellipse">
            <a:avLst/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ot:title"/>
          <p:cNvSpPr/>
          <p:nvPr/>
        </p:nvSpPr>
        <p:spPr>
          <a:xfrm>
            <a:off x="548640" y="548640"/>
            <a:ext cx="3108960" cy="23774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FFFFFF"/>
                </a:solidFill>
                <a:latin typeface="Verdana" panose="020B0604030504040204"/>
                <a:cs typeface="Verdana"/>
              </a:rPr>
              <a:t>Как сделать</a:t>
            </a:r>
            <a:endParaRPr lang="ru-RU" sz="3600" b="1">
              <a:solidFill>
                <a:srgbClr val="FFFFFF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5" name="deco:picture_bg"/>
          <p:cNvSpPr/>
          <p:nvPr/>
        </p:nvSpPr>
        <p:spPr>
          <a:xfrm>
            <a:off x="685800" y="3429000"/>
            <a:ext cx="2834640" cy="2834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lot:picture"/>
          <p:cNvSpPr/>
          <p:nvPr/>
        </p:nvSpPr>
        <p:spPr>
          <a:xfrm>
            <a:off x="1097280" y="3840480"/>
            <a:ext cx="2011680" cy="201168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slot:steps"/>
          <p:cNvSpPr/>
          <p:nvPr/>
        </p:nvSpPr>
        <p:spPr>
          <a:xfrm>
            <a:off x="4800600" y="548640"/>
            <a:ext cx="6839712" cy="57607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 marL="568960" indent="-568960">
              <a:spc_bef>
                <a:spcPts val="22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Первый шаг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22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Второй шаг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22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Третий шаг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568960" indent="-568960">
              <a:spc_bef>
                <a:spcPts val="2200"/>
              </a:spc_bef>
              <a:buClr>
                <a:srgbClr val="1F7A5C"/>
              </a:buClr>
              <a:buSzPct val="100000"/>
              <a:buFont typeface="Arial"/>
              <a:buAutoNum type="arabicPeriod"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Четвёртый шаг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Новые слова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deco:card1"/>
          <p:cNvSpPr/>
          <p:nvPr/>
        </p:nvSpPr>
        <p:spPr>
          <a:xfrm>
            <a:off x="548640" y="1508760"/>
            <a:ext cx="3483864" cy="4800600"/>
          </a:xfrm>
          <a:prstGeom prst="roundRect">
            <a:avLst>
              <a:gd name="adj" fmla="val 918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ot:picture1"/>
          <p:cNvSpPr/>
          <p:nvPr/>
        </p:nvSpPr>
        <p:spPr>
          <a:xfrm>
            <a:off x="1097280" y="1783080"/>
            <a:ext cx="2377440" cy="2377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5" name="slot:word1"/>
          <p:cNvSpPr/>
          <p:nvPr/>
        </p:nvSpPr>
        <p:spPr>
          <a:xfrm>
            <a:off x="685800" y="42519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3200" b="1">
                <a:solidFill>
                  <a:srgbClr val="1C2B33"/>
                </a:solidFill>
                <a:latin typeface="Arial" panose="020B0604020202020204"/>
                <a:cs typeface="Arial"/>
              </a:rPr>
              <a:t>слово</a:t>
            </a:r>
            <a:endParaRPr lang="ru-RU" sz="3200" b="1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slot:translation1"/>
          <p:cNvSpPr/>
          <p:nvPr/>
        </p:nvSpPr>
        <p:spPr>
          <a:xfrm>
            <a:off x="685800" y="51663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0">
                <a:solidFill>
                  <a:srgbClr val="1F7A5C"/>
                </a:solidFill>
                <a:latin typeface="Arial" panose="020B0604020202020204"/>
                <a:cs typeface="Arial"/>
              </a:rPr>
              <a:t>перевод</a:t>
            </a:r>
            <a:endParaRPr lang="ru-RU" sz="2600" b="0">
              <a:solidFill>
                <a:srgbClr val="1F7A5C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deco:card2"/>
          <p:cNvSpPr/>
          <p:nvPr/>
        </p:nvSpPr>
        <p:spPr>
          <a:xfrm>
            <a:off x="4352544" y="1508760"/>
            <a:ext cx="3483864" cy="4800600"/>
          </a:xfrm>
          <a:prstGeom prst="roundRect">
            <a:avLst>
              <a:gd name="adj" fmla="val 918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lot:picture2"/>
          <p:cNvSpPr/>
          <p:nvPr/>
        </p:nvSpPr>
        <p:spPr>
          <a:xfrm>
            <a:off x="4901184" y="1783080"/>
            <a:ext cx="2377440" cy="2377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9" name="slot:word2"/>
          <p:cNvSpPr/>
          <p:nvPr/>
        </p:nvSpPr>
        <p:spPr>
          <a:xfrm>
            <a:off x="4489704" y="42519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3200" b="1">
                <a:solidFill>
                  <a:srgbClr val="1C2B33"/>
                </a:solidFill>
                <a:latin typeface="Arial" panose="020B0604020202020204"/>
                <a:cs typeface="Arial"/>
              </a:rPr>
              <a:t>слово</a:t>
            </a:r>
            <a:endParaRPr lang="ru-RU" sz="3200" b="1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10" name="slot:translation2"/>
          <p:cNvSpPr/>
          <p:nvPr/>
        </p:nvSpPr>
        <p:spPr>
          <a:xfrm>
            <a:off x="4489704" y="51663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0">
                <a:solidFill>
                  <a:srgbClr val="1F7A5C"/>
                </a:solidFill>
                <a:latin typeface="Arial" panose="020B0604020202020204"/>
                <a:cs typeface="Arial"/>
              </a:rPr>
              <a:t>перевод</a:t>
            </a:r>
            <a:endParaRPr lang="ru-RU" sz="2600" b="0">
              <a:solidFill>
                <a:srgbClr val="1F7A5C"/>
              </a:solidFill>
              <a:latin typeface="Arial" panose="020B0604020202020204"/>
              <a:cs typeface="Arial"/>
            </a:endParaRPr>
          </a:p>
        </p:txBody>
      </p:sp>
      <p:sp>
        <p:nvSpPr>
          <p:cNvPr id="11" name="deco:card3"/>
          <p:cNvSpPr/>
          <p:nvPr/>
        </p:nvSpPr>
        <p:spPr>
          <a:xfrm>
            <a:off x="8156448" y="1508760"/>
            <a:ext cx="3483864" cy="4800600"/>
          </a:xfrm>
          <a:prstGeom prst="roundRect">
            <a:avLst>
              <a:gd name="adj" fmla="val 918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lot:picture3"/>
          <p:cNvSpPr/>
          <p:nvPr/>
        </p:nvSpPr>
        <p:spPr>
          <a:xfrm>
            <a:off x="8705088" y="1783080"/>
            <a:ext cx="2377440" cy="2377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13" name="slot:word3"/>
          <p:cNvSpPr/>
          <p:nvPr/>
        </p:nvSpPr>
        <p:spPr>
          <a:xfrm>
            <a:off x="8293608" y="42519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3200" b="1">
                <a:solidFill>
                  <a:srgbClr val="1C2B33"/>
                </a:solidFill>
                <a:latin typeface="Arial" panose="020B0604020202020204"/>
                <a:cs typeface="Arial"/>
              </a:rPr>
              <a:t>слово</a:t>
            </a:r>
            <a:endParaRPr lang="ru-RU" sz="3200" b="1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14" name="slot:translation3"/>
          <p:cNvSpPr/>
          <p:nvPr/>
        </p:nvSpPr>
        <p:spPr>
          <a:xfrm>
            <a:off x="8293608" y="5166360"/>
            <a:ext cx="3209544" cy="9144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0">
                <a:solidFill>
                  <a:srgbClr val="1F7A5C"/>
                </a:solidFill>
                <a:latin typeface="Arial" panose="020B0604020202020204"/>
                <a:cs typeface="Arial"/>
              </a:rPr>
              <a:t>перевод</a:t>
            </a:r>
            <a:endParaRPr lang="ru-RU" sz="2600" b="0">
              <a:solidFill>
                <a:srgbClr val="1F7A5C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Таблица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deco:col1_bg"/>
          <p:cNvSpPr/>
          <p:nvPr/>
        </p:nvSpPr>
        <p:spPr>
          <a:xfrm>
            <a:off x="548640" y="1508760"/>
            <a:ext cx="3611880" cy="4846320"/>
          </a:xfrm>
          <a:prstGeom prst="roundRect">
            <a:avLst>
              <a:gd name="adj" fmla="val 7594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ot:col1_head"/>
          <p:cNvSpPr/>
          <p:nvPr/>
        </p:nvSpPr>
        <p:spPr>
          <a:xfrm>
            <a:off x="548640" y="1508760"/>
            <a:ext cx="3611880" cy="868680"/>
          </a:xfrm>
          <a:prstGeom prst="roundRect">
            <a:avLst>
              <a:gd name="adj" fmla="val 31578"/>
            </a:avLst>
          </a:prstGeom>
          <a:solidFill>
            <a:srgbClr val="1F7A5C"/>
          </a:solidFill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1">
                <a:solidFill>
                  <a:srgbClr val="FFFFFF"/>
                </a:solidFill>
                <a:latin typeface="Arial" panose="020B0604020202020204"/>
                <a:cs typeface="Arial"/>
              </a:rPr>
              <a:t>Столбец 1</a:t>
            </a:r>
            <a:endParaRPr lang="ru-RU" sz="2600" b="1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5" name="slot:col1_items"/>
          <p:cNvSpPr/>
          <p:nvPr/>
        </p:nvSpPr>
        <p:spPr>
          <a:xfrm>
            <a:off x="548640" y="2514600"/>
            <a:ext cx="3611880" cy="3749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259079" rIns="88900" bIns="0">
            <a:normAutofit/>
          </a:bodyPr>
          <a:lstStyle/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1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2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3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deco:col2_bg"/>
          <p:cNvSpPr/>
          <p:nvPr/>
        </p:nvSpPr>
        <p:spPr>
          <a:xfrm>
            <a:off x="4288536" y="1508760"/>
            <a:ext cx="3611880" cy="4846320"/>
          </a:xfrm>
          <a:prstGeom prst="roundRect">
            <a:avLst>
              <a:gd name="adj" fmla="val 7594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lot:col2_head"/>
          <p:cNvSpPr/>
          <p:nvPr/>
        </p:nvSpPr>
        <p:spPr>
          <a:xfrm>
            <a:off x="4288536" y="1508760"/>
            <a:ext cx="3611880" cy="868680"/>
          </a:xfrm>
          <a:prstGeom prst="roundRect">
            <a:avLst>
              <a:gd name="adj" fmla="val 31578"/>
            </a:avLst>
          </a:prstGeom>
          <a:solidFill>
            <a:srgbClr val="1F7A5C"/>
          </a:solidFill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1">
                <a:solidFill>
                  <a:srgbClr val="FFFFFF"/>
                </a:solidFill>
                <a:latin typeface="Arial" panose="020B0604020202020204"/>
                <a:cs typeface="Arial"/>
              </a:rPr>
              <a:t>Столбец 2</a:t>
            </a:r>
            <a:endParaRPr lang="ru-RU" sz="2600" b="1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8" name="slot:col2_items"/>
          <p:cNvSpPr/>
          <p:nvPr/>
        </p:nvSpPr>
        <p:spPr>
          <a:xfrm>
            <a:off x="4288536" y="2514600"/>
            <a:ext cx="3611880" cy="3749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259079" rIns="88900" bIns="0">
            <a:normAutofit/>
          </a:bodyPr>
          <a:lstStyle/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1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2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3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9" name="deco:col3_bg"/>
          <p:cNvSpPr/>
          <p:nvPr/>
        </p:nvSpPr>
        <p:spPr>
          <a:xfrm>
            <a:off x="8028432" y="1508760"/>
            <a:ext cx="3611880" cy="4846320"/>
          </a:xfrm>
          <a:prstGeom prst="roundRect">
            <a:avLst>
              <a:gd name="adj" fmla="val 7594"/>
            </a:avLst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lot:col3_head"/>
          <p:cNvSpPr/>
          <p:nvPr/>
        </p:nvSpPr>
        <p:spPr>
          <a:xfrm>
            <a:off x="8028432" y="1508760"/>
            <a:ext cx="3611880" cy="868680"/>
          </a:xfrm>
          <a:prstGeom prst="roundRect">
            <a:avLst>
              <a:gd name="adj" fmla="val 31578"/>
            </a:avLst>
          </a:prstGeom>
          <a:solidFill>
            <a:srgbClr val="1F7A5C"/>
          </a:solidFill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2600" b="1">
                <a:solidFill>
                  <a:srgbClr val="FFFFFF"/>
                </a:solidFill>
                <a:latin typeface="Arial" panose="020B0604020202020204"/>
                <a:cs typeface="Arial"/>
              </a:rPr>
              <a:t>Столбец 3</a:t>
            </a:r>
            <a:endParaRPr lang="ru-RU" sz="2600" b="1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11" name="slot:col3_items"/>
          <p:cNvSpPr/>
          <p:nvPr/>
        </p:nvSpPr>
        <p:spPr>
          <a:xfrm>
            <a:off x="8028432" y="2514600"/>
            <a:ext cx="3611880" cy="3749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259079" rIns="88900" bIns="0">
            <a:normAutofit/>
          </a:bodyPr>
          <a:lstStyle/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1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2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ctr">
              <a:spc_aft>
                <a:spcPts val="4079"/>
              </a:spc_aft>
              <a:buNone/>
            </a:pPr>
            <a:r>
              <a:rPr lang="ru-RU" sz="2600" b="0">
                <a:solidFill>
                  <a:srgbClr val="1C2B33"/>
                </a:solidFill>
                <a:latin typeface="Arial" panose="020B0604020202020204"/>
                <a:cs typeface="Arial"/>
              </a:rPr>
              <a:t>строка 3</a:t>
            </a:r>
            <a:endParaRPr lang="ru-RU" sz="26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Найди пару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grpSp>
        <p:nvGrpSpPr>
          <p:cNvPr id="3" name="deco:row1"/>
          <p:cNvGrpSpPr/>
          <p:nvPr/>
        </p:nvGrpSpPr>
        <p:grpSpPr>
          <a:xfrm>
            <a:off x="548640" y="1645920"/>
            <a:ext cx="11091672" cy="868680"/>
            <a:chOff x="548640" y="1645920"/>
            <a:chExt cx="11091672" cy="868680"/>
          </a:xfrm>
        </p:grpSpPr>
        <p:sp>
          <p:nvSpPr>
            <p:cNvPr id="4" name="panel_round"/>
            <p:cNvSpPr/>
            <p:nvPr/>
          </p:nvSpPr>
          <p:spPr>
            <a:xfrm>
              <a:off x="548640" y="1645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panel_round"/>
            <p:cNvSpPr/>
            <p:nvPr/>
          </p:nvSpPr>
          <p:spPr>
            <a:xfrm>
              <a:off x="7159752" y="1645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FFF0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anel_oval"/>
            <p:cNvSpPr/>
            <p:nvPr/>
          </p:nvSpPr>
          <p:spPr>
            <a:xfrm>
              <a:off x="4828032" y="1961388"/>
              <a:ext cx="237744" cy="237744"/>
            </a:xfrm>
            <a:prstGeom prst="ellipse">
              <a:avLst/>
            </a:prstGeom>
            <a:solidFill>
              <a:srgbClr val="1F7A5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anel_oval"/>
            <p:cNvSpPr/>
            <p:nvPr/>
          </p:nvSpPr>
          <p:spPr>
            <a:xfrm>
              <a:off x="7123176" y="1961388"/>
              <a:ext cx="237744" cy="237744"/>
            </a:xfrm>
            <a:prstGeom prst="ellipse">
              <a:avLst/>
            </a:prstGeom>
            <a:solidFill>
              <a:srgbClr val="C98A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deco:row2"/>
          <p:cNvGrpSpPr/>
          <p:nvPr/>
        </p:nvGrpSpPr>
        <p:grpSpPr>
          <a:xfrm>
            <a:off x="548640" y="2788920"/>
            <a:ext cx="11091672" cy="868680"/>
            <a:chOff x="548640" y="2788920"/>
            <a:chExt cx="11091672" cy="868680"/>
          </a:xfrm>
        </p:grpSpPr>
        <p:sp>
          <p:nvSpPr>
            <p:cNvPr id="9" name="panel_round"/>
            <p:cNvSpPr/>
            <p:nvPr/>
          </p:nvSpPr>
          <p:spPr>
            <a:xfrm>
              <a:off x="548640" y="2788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anel_round"/>
            <p:cNvSpPr/>
            <p:nvPr/>
          </p:nvSpPr>
          <p:spPr>
            <a:xfrm>
              <a:off x="7159752" y="2788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FFF0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anel_oval"/>
            <p:cNvSpPr/>
            <p:nvPr/>
          </p:nvSpPr>
          <p:spPr>
            <a:xfrm>
              <a:off x="4828032" y="3104388"/>
              <a:ext cx="237744" cy="237744"/>
            </a:xfrm>
            <a:prstGeom prst="ellipse">
              <a:avLst/>
            </a:prstGeom>
            <a:solidFill>
              <a:srgbClr val="1F7A5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anel_oval"/>
            <p:cNvSpPr/>
            <p:nvPr/>
          </p:nvSpPr>
          <p:spPr>
            <a:xfrm>
              <a:off x="7123176" y="3104388"/>
              <a:ext cx="237744" cy="237744"/>
            </a:xfrm>
            <a:prstGeom prst="ellipse">
              <a:avLst/>
            </a:prstGeom>
            <a:solidFill>
              <a:srgbClr val="C98A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deco:row3"/>
          <p:cNvGrpSpPr/>
          <p:nvPr/>
        </p:nvGrpSpPr>
        <p:grpSpPr>
          <a:xfrm>
            <a:off x="548640" y="3931920"/>
            <a:ext cx="11091672" cy="868680"/>
            <a:chOff x="548640" y="3931920"/>
            <a:chExt cx="11091672" cy="868680"/>
          </a:xfrm>
        </p:grpSpPr>
        <p:sp>
          <p:nvSpPr>
            <p:cNvPr id="14" name="panel_round"/>
            <p:cNvSpPr/>
            <p:nvPr/>
          </p:nvSpPr>
          <p:spPr>
            <a:xfrm>
              <a:off x="548640" y="3931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anel_round"/>
            <p:cNvSpPr/>
            <p:nvPr/>
          </p:nvSpPr>
          <p:spPr>
            <a:xfrm>
              <a:off x="7159752" y="3931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FFF0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anel_oval"/>
            <p:cNvSpPr/>
            <p:nvPr/>
          </p:nvSpPr>
          <p:spPr>
            <a:xfrm>
              <a:off x="4828032" y="4247388"/>
              <a:ext cx="237744" cy="237744"/>
            </a:xfrm>
            <a:prstGeom prst="ellipse">
              <a:avLst/>
            </a:prstGeom>
            <a:solidFill>
              <a:srgbClr val="1F7A5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anel_oval"/>
            <p:cNvSpPr/>
            <p:nvPr/>
          </p:nvSpPr>
          <p:spPr>
            <a:xfrm>
              <a:off x="7123176" y="4247388"/>
              <a:ext cx="237744" cy="237744"/>
            </a:xfrm>
            <a:prstGeom prst="ellipse">
              <a:avLst/>
            </a:prstGeom>
            <a:solidFill>
              <a:srgbClr val="C98A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deco:row4"/>
          <p:cNvGrpSpPr/>
          <p:nvPr/>
        </p:nvGrpSpPr>
        <p:grpSpPr>
          <a:xfrm>
            <a:off x="548640" y="5074920"/>
            <a:ext cx="11091672" cy="868680"/>
            <a:chOff x="548640" y="5074920"/>
            <a:chExt cx="11091672" cy="868680"/>
          </a:xfrm>
        </p:grpSpPr>
        <p:sp>
          <p:nvSpPr>
            <p:cNvPr id="19" name="panel_round"/>
            <p:cNvSpPr/>
            <p:nvPr/>
          </p:nvSpPr>
          <p:spPr>
            <a:xfrm>
              <a:off x="548640" y="5074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anel_round"/>
            <p:cNvSpPr/>
            <p:nvPr/>
          </p:nvSpPr>
          <p:spPr>
            <a:xfrm>
              <a:off x="7159752" y="5074920"/>
              <a:ext cx="4480560" cy="868680"/>
            </a:xfrm>
            <a:prstGeom prst="roundRect">
              <a:avLst>
                <a:gd name="adj" fmla="val 50000"/>
              </a:avLst>
            </a:prstGeom>
            <a:solidFill>
              <a:srgbClr val="FFF0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anel_oval"/>
            <p:cNvSpPr/>
            <p:nvPr/>
          </p:nvSpPr>
          <p:spPr>
            <a:xfrm>
              <a:off x="4828032" y="5390388"/>
              <a:ext cx="237744" cy="237744"/>
            </a:xfrm>
            <a:prstGeom prst="ellipse">
              <a:avLst/>
            </a:prstGeom>
            <a:solidFill>
              <a:srgbClr val="1F7A5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anel_oval"/>
            <p:cNvSpPr/>
            <p:nvPr/>
          </p:nvSpPr>
          <p:spPr>
            <a:xfrm>
              <a:off x="7123176" y="5390388"/>
              <a:ext cx="237744" cy="237744"/>
            </a:xfrm>
            <a:prstGeom prst="ellipse">
              <a:avLst/>
            </a:prstGeom>
            <a:solidFill>
              <a:srgbClr val="C98A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slot:left"/>
          <p:cNvSpPr/>
          <p:nvPr/>
        </p:nvSpPr>
        <p:spPr>
          <a:xfrm>
            <a:off x="548640" y="1645920"/>
            <a:ext cx="4480560" cy="45262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304800" tIns="220979" rIns="228600" bIns="0">
            <a:normAutofit/>
          </a:bodyPr>
          <a:lstStyle/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один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два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три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четыре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24" name="slot:right"/>
          <p:cNvSpPr/>
          <p:nvPr/>
        </p:nvSpPr>
        <p:spPr>
          <a:xfrm>
            <a:off x="7159752" y="1645920"/>
            <a:ext cx="4480560" cy="45262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304800" tIns="220979" rIns="228600" bIns="0">
            <a:normAutofit/>
          </a:bodyPr>
          <a:lstStyle/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two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four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one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>
              <a:spc_aft>
                <a:spcPts val="5640"/>
              </a:spc_aft>
              <a:buNone/>
            </a:pPr>
            <a:r>
              <a:rPr lang="ru-RU" sz="2800" b="0">
                <a:solidFill>
                  <a:srgbClr val="1C2B33"/>
                </a:solidFill>
                <a:latin typeface="Arial" panose="020B0604020202020204"/>
                <a:cs typeface="Arial"/>
              </a:rPr>
              <a:t>three</a:t>
            </a:r>
            <a:endParaRPr lang="ru-RU" sz="28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Задание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slot:task"/>
          <p:cNvSpPr/>
          <p:nvPr/>
        </p:nvSpPr>
        <p:spPr>
          <a:xfrm>
            <a:off x="548640" y="1417320"/>
            <a:ext cx="7498080" cy="23774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Условие задания: что нужно сделать и с чем.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4" name="deco:picture_bg"/>
          <p:cNvSpPr/>
          <p:nvPr/>
        </p:nvSpPr>
        <p:spPr>
          <a:xfrm>
            <a:off x="8458200" y="502920"/>
            <a:ext cx="3182112" cy="3182112"/>
          </a:xfrm>
          <a:prstGeom prst="ellipse">
            <a:avLst/>
          </a:prstGeom>
          <a:solidFill>
            <a:srgbClr val="E6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lot:picture"/>
          <p:cNvSpPr/>
          <p:nvPr/>
        </p:nvSpPr>
        <p:spPr>
          <a:xfrm>
            <a:off x="8906256" y="950976"/>
            <a:ext cx="2286000" cy="228600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deco:answer_box"/>
          <p:cNvSpPr/>
          <p:nvPr/>
        </p:nvSpPr>
        <p:spPr>
          <a:xfrm>
            <a:off x="548640" y="4023360"/>
            <a:ext cx="11091672" cy="237744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31750">
            <a:solidFill>
              <a:srgbClr val="1F7A5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lot:answer"/>
          <p:cNvSpPr/>
          <p:nvPr/>
        </p:nvSpPr>
        <p:spPr>
          <a:xfrm>
            <a:off x="914400" y="4206240"/>
            <a:ext cx="10360152" cy="20116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200" b="1">
                <a:solidFill>
                  <a:srgbClr val="1F7A5C"/>
                </a:solidFill>
                <a:latin typeface="Arial" panose="020B0604020202020204"/>
                <a:cs typeface="Arial"/>
              </a:rPr>
              <a:t>Ответ</a:t>
            </a:r>
            <a:endParaRPr lang="ru-RU" sz="3200" b="1">
              <a:solidFill>
                <a:srgbClr val="1F7A5C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wave"/>
          <p:cNvSpPr/>
          <p:nvPr/>
        </p:nvSpPr>
        <p:spPr>
          <a:xfrm>
            <a:off x="0" y="5486400"/>
            <a:ext cx="11887200" cy="5603272207200"/>
          </a:xfrm>
          <a:custGeom>
            <a:avLst/>
            <a:gdLst/>
            <a:ahLst/>
            <a:cxnLst/>
            <a:rect l="l" t="t" r="r" b="b"/>
            <a:pathLst>
              <a:path w="13" h="6127813">
                <a:moveTo>
                  <a:pt x="0" y="6127813"/>
                </a:move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8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1" y="1"/>
                </a:lnTo>
                <a:lnTo>
                  <a:pt x="11" y="1"/>
                </a:lnTo>
                <a:lnTo>
                  <a:pt x="11" y="1"/>
                </a:lnTo>
                <a:lnTo>
                  <a:pt x="11" y="1"/>
                </a:lnTo>
                <a:lnTo>
                  <a:pt x="11" y="1"/>
                </a:lnTo>
                <a:lnTo>
                  <a:pt x="11" y="1"/>
                </a:lnTo>
                <a:lnTo>
                  <a:pt x="11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2" y="1"/>
                </a:lnTo>
                <a:lnTo>
                  <a:pt x="13" y="1"/>
                </a:lnTo>
                <a:lnTo>
                  <a:pt x="13" y="1"/>
                </a:lnTo>
                <a:lnTo>
                  <a:pt x="13" y="1"/>
                </a:lnTo>
                <a:lnTo>
                  <a:pt x="13" y="1"/>
                </a:lnTo>
                <a:lnTo>
                  <a:pt x="13" y="1"/>
                </a:lnTo>
                <a:lnTo>
                  <a:pt x="13" y="0"/>
                </a:lnTo>
                <a:lnTo>
                  <a:pt x="13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0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eco:picture_bg"/>
          <p:cNvSpPr/>
          <p:nvPr/>
        </p:nvSpPr>
        <p:spPr>
          <a:xfrm>
            <a:off x="7452360" y="822960"/>
            <a:ext cx="4023360" cy="402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eco:dot"/>
          <p:cNvSpPr/>
          <p:nvPr/>
        </p:nvSpPr>
        <p:spPr>
          <a:xfrm>
            <a:off x="6903720" y="4343400"/>
            <a:ext cx="822960" cy="822960"/>
          </a:xfrm>
          <a:prstGeom prst="ellipse">
            <a:avLst/>
          </a:prstGeom>
          <a:solidFill>
            <a:srgbClr val="1F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lot:picture"/>
          <p:cNvSpPr/>
          <p:nvPr/>
        </p:nvSpPr>
        <p:spPr>
          <a:xfrm>
            <a:off x="8092440" y="1463040"/>
            <a:ext cx="2743200" cy="274320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slot:title"/>
          <p:cNvSpPr/>
          <p:nvPr/>
        </p:nvSpPr>
        <p:spPr>
          <a:xfrm>
            <a:off x="548640" y="50292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4800" b="1">
                <a:solidFill>
                  <a:srgbClr val="1C2B33"/>
                </a:solidFill>
                <a:latin typeface="Verdana" panose="020B0604030504040204"/>
                <a:cs typeface="Verdana"/>
              </a:rPr>
              <a:t>Физминутка</a:t>
            </a:r>
            <a:endParaRPr lang="ru-RU" sz="48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7" name="slot:moves"/>
          <p:cNvSpPr/>
          <p:nvPr/>
        </p:nvSpPr>
        <p:spPr>
          <a:xfrm>
            <a:off x="548640" y="1965960"/>
            <a:ext cx="6400800" cy="38404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50800" rIns="88900" bIns="50800">
            <a:normAutofit/>
          </a:bodyPr>
          <a:lstStyle/>
          <a:p>
            <a:pPr algn="l" marL="476250" indent="-4762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Первое движение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76250" indent="-4762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Второе движение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76250" indent="-476250">
              <a:spc_bef>
                <a:spcPts val="14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Третье движение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FFFFFF"/>
                </a:solidFill>
                <a:latin typeface="Verdana" panose="020B0604030504040204"/>
                <a:cs typeface="Verdana"/>
              </a:rPr>
              <a:t>Подведём итог</a:t>
            </a:r>
            <a:endParaRPr lang="ru-RU" sz="3600" b="1">
              <a:solidFill>
                <a:srgbClr val="FFFFFF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slot:prompts"/>
          <p:cNvSpPr/>
          <p:nvPr/>
        </p:nvSpPr>
        <p:spPr>
          <a:xfrm>
            <a:off x="548640" y="1554480"/>
            <a:ext cx="7315200" cy="47548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81000" tIns="152400" rIns="304800" bIns="152400">
            <a:normAutofit/>
          </a:bodyPr>
          <a:lstStyle/>
          <a:p>
            <a:pPr algn="l" marL="476250" indent="-476250">
              <a:spc_bef>
                <a:spcPts val="20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Сегодня я узнал…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76250" indent="-476250">
              <a:spc_bef>
                <a:spcPts val="20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Мне было трудно…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76250" indent="-476250">
              <a:spc_bef>
                <a:spcPts val="20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Я могу…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4" name="deco:mood_bg"/>
          <p:cNvSpPr/>
          <p:nvPr/>
        </p:nvSpPr>
        <p:spPr>
          <a:xfrm>
            <a:off x="8183880" y="1554480"/>
            <a:ext cx="3456432" cy="4754880"/>
          </a:xfrm>
          <a:prstGeom prst="roundRect">
            <a:avLst>
              <a:gd name="adj" fmla="val 10582"/>
            </a:avLst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lot:mood1"/>
          <p:cNvSpPr/>
          <p:nvPr/>
        </p:nvSpPr>
        <p:spPr>
          <a:xfrm>
            <a:off x="9299448" y="1828800"/>
            <a:ext cx="1234440" cy="1234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6" name="slot:mood2"/>
          <p:cNvSpPr/>
          <p:nvPr/>
        </p:nvSpPr>
        <p:spPr>
          <a:xfrm>
            <a:off x="9299448" y="3319272"/>
            <a:ext cx="1234440" cy="1234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  <p:sp>
        <p:nvSpPr>
          <p:cNvPr id="7" name="slot:mood3"/>
          <p:cNvSpPr/>
          <p:nvPr/>
        </p:nvSpPr>
        <p:spPr>
          <a:xfrm>
            <a:off x="9299448" y="4809744"/>
            <a:ext cx="1234440" cy="123444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:title"/>
          <p:cNvSpPr/>
          <p:nvPr/>
        </p:nvSpPr>
        <p:spPr>
          <a:xfrm>
            <a:off x="548640" y="384048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l">
              <a:buNone/>
            </a:pPr>
            <a:r>
              <a:rPr lang="ru-RU" sz="3600" b="1">
                <a:solidFill>
                  <a:srgbClr val="1C2B33"/>
                </a:solidFill>
                <a:latin typeface="Verdana" panose="020B0604030504040204"/>
                <a:cs typeface="Verdana"/>
              </a:rPr>
              <a:t>Домашнее задание</a:t>
            </a:r>
            <a:endParaRPr lang="ru-RU" sz="36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3" name="slot:tasks"/>
          <p:cNvSpPr/>
          <p:nvPr/>
        </p:nvSpPr>
        <p:spPr>
          <a:xfrm>
            <a:off x="548640" y="1554480"/>
            <a:ext cx="7680960" cy="47548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381000" tIns="228600" rIns="304800" bIns="152400">
            <a:normAutofit/>
          </a:bodyPr>
          <a:lstStyle/>
          <a:p>
            <a:pPr algn="l" marL="476250" indent="-476250">
              <a:spc_bef>
                <a:spcPts val="18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Первое задание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  <a:p>
            <a:pPr algn="l" marL="476250" indent="-476250">
              <a:spc_bef>
                <a:spcPts val="1800"/>
              </a:spc_bef>
              <a:buClr>
                <a:srgbClr val="1F7A5C"/>
              </a:buClr>
              <a:buSzPct val="80000"/>
              <a:buFont typeface="Arial"/>
              <a:buChar char="●"/>
            </a:pPr>
            <a:r>
              <a:rPr lang="ru-RU" sz="3000" b="0">
                <a:solidFill>
                  <a:srgbClr val="1C2B33"/>
                </a:solidFill>
                <a:latin typeface="Arial" panose="020B0604020202020204"/>
                <a:cs typeface="Arial"/>
              </a:rPr>
              <a:t>Второе задание</a:t>
            </a:r>
            <a:endParaRPr lang="ru-RU" sz="3000" b="0">
              <a:solidFill>
                <a:srgbClr val="1C2B33"/>
              </a:solidFill>
              <a:latin typeface="Arial" panose="020B0604020202020204"/>
              <a:cs typeface="Arial"/>
            </a:endParaRPr>
          </a:p>
        </p:txBody>
      </p:sp>
      <p:sp>
        <p:nvSpPr>
          <p:cNvPr id="4" name="slot:page"/>
          <p:cNvSpPr/>
          <p:nvPr/>
        </p:nvSpPr>
        <p:spPr>
          <a:xfrm>
            <a:off x="8595360" y="1554480"/>
            <a:ext cx="3044952" cy="1417320"/>
          </a:xfrm>
          <a:prstGeom prst="roundRect">
            <a:avLst>
              <a:gd name="adj" fmla="val 25806"/>
            </a:avLst>
          </a:prstGeom>
          <a:solidFill>
            <a:srgbClr val="FFC233"/>
          </a:solidFill>
          <a:ln>
            <a:noFill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4000" b="1">
                <a:solidFill>
                  <a:srgbClr val="1C2B33"/>
                </a:solidFill>
                <a:latin typeface="Verdana" panose="020B0604030504040204"/>
                <a:cs typeface="Verdana"/>
              </a:rPr>
              <a:t>с. 24</a:t>
            </a:r>
            <a:endParaRPr lang="ru-RU" sz="4000" b="1">
              <a:solidFill>
                <a:srgbClr val="1C2B33"/>
              </a:solidFill>
              <a:latin typeface="Verdana" panose="020B0604030504040204"/>
              <a:cs typeface="Verdana"/>
            </a:endParaRPr>
          </a:p>
        </p:txBody>
      </p:sp>
      <p:sp>
        <p:nvSpPr>
          <p:cNvPr id="5" name="deco:picture_bg"/>
          <p:cNvSpPr/>
          <p:nvPr/>
        </p:nvSpPr>
        <p:spPr>
          <a:xfrm>
            <a:off x="8609076" y="3291840"/>
            <a:ext cx="3017520" cy="3017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lot:picture"/>
          <p:cNvSpPr/>
          <p:nvPr/>
        </p:nvSpPr>
        <p:spPr>
          <a:xfrm>
            <a:off x="9020556" y="3703320"/>
            <a:ext cx="2194560" cy="2194560"/>
          </a:xfrm>
          <a:prstGeom prst="rect">
            <a:avLst/>
          </a:prstGeom>
          <a:noFill/>
          <a:ln w="19050">
            <a:solidFill>
              <a:srgbClr val="9CCBB5"/>
            </a:solidFill>
            <a:prstDash val="dash"/>
          </a:ln>
        </p:spPr>
        <p:txBody>
          <a:bodyPr rtlCol="0" anchor="ctr" wrap="square" lIns="88900" tIns="50800" rIns="88900" bIns="50800">
            <a:normAutofit/>
          </a:bodyPr>
          <a:lstStyle/>
          <a:p>
            <a:pPr algn="ctr">
              <a:buNone/>
            </a:pPr>
            <a:r>
              <a:rPr lang="ru-RU" sz="1600" b="0">
                <a:solidFill>
                  <a:srgbClr val="5B6B73"/>
                </a:solidFill>
                <a:latin typeface="Arial" panose="020B0604020202020204"/>
                <a:cs typeface="Arial"/>
              </a:rPr>
              <a:t>картинка</a:t>
            </a:r>
            <a:endParaRPr lang="ru-RU" sz="1600" b="0">
              <a:solidFill>
                <a:srgbClr val="5B6B73"/>
              </a:solidFill>
              <a:latin typeface="Arial" panose="020B0604020202020204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Жоспар — библиотека шаблонов слайдов</dc:title>
  <dc:subject/>
  <dc:creator>Жоспар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